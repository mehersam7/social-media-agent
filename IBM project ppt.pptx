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1" r:id="rId9"/>
    <p:sldId id="294" r:id="rId10"/>
    <p:sldId id="264" r:id="rId11"/>
    <p:sldId id="286" r:id="rId12"/>
    <p:sldId id="295" r:id="rId13"/>
    <p:sldId id="280" r:id="rId14"/>
    <p:sldId id="288" r:id="rId15"/>
    <p:sldId id="293"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84" d="100"/>
          <a:sy n="84" d="100"/>
        </p:scale>
        <p:origin x="81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148532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0573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690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029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mehersam7/SOCIAL-MEDIA-AGEN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88965912"/>
              </p:ext>
            </p:extLst>
          </p:nvPr>
        </p:nvGraphicFramePr>
        <p:xfrm>
          <a:off x="1297858" y="2600315"/>
          <a:ext cx="9396388" cy="2167128"/>
        </p:xfrm>
        <a:graphic>
          <a:graphicData uri="http://schemas.openxmlformats.org/drawingml/2006/table">
            <a:tbl>
              <a:tblPr>
                <a:noFill/>
                <a:tableStyleId>{0AAD8F4D-43EB-41E5-8A38-28AB6DFB1B60}</a:tableStyleId>
              </a:tblPr>
              <a:tblGrid>
                <a:gridCol w="2066266">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Samruddhi Meher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mehersam613@gmail.com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      9595739476</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US" sz="2800" dirty="0"/>
              <a:t>Social Media Analytics &amp; Marketing</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b="1" dirty="0"/>
              <a:t>Social Media Agent</a:t>
            </a:r>
          </a:p>
        </p:txBody>
      </p:sp>
      <p:pic>
        <p:nvPicPr>
          <p:cNvPr id="8" name="Picture 7">
            <a:extLst>
              <a:ext uri="{FF2B5EF4-FFF2-40B4-BE49-F238E27FC236}">
                <a16:creationId xmlns:a16="http://schemas.microsoft.com/office/drawing/2014/main" id="{4F03D1FE-B82C-C426-8C54-27CA867CDFE8}"/>
              </a:ext>
            </a:extLst>
          </p:cNvPr>
          <p:cNvPicPr>
            <a:picLocks noChangeAspect="1"/>
          </p:cNvPicPr>
          <p:nvPr/>
        </p:nvPicPr>
        <p:blipFill>
          <a:blip r:embed="rId3"/>
          <a:stretch>
            <a:fillRect/>
          </a:stretch>
        </p:blipFill>
        <p:spPr>
          <a:xfrm>
            <a:off x="4141292" y="3647303"/>
            <a:ext cx="869620" cy="10393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379427" y="644643"/>
            <a:ext cx="10607040" cy="6463308"/>
          </a:xfrm>
          <a:prstGeom prst="rect">
            <a:avLst/>
          </a:prstGeom>
          <a:noFill/>
        </p:spPr>
        <p:txBody>
          <a:bodyPr wrap="square" rtlCol="0">
            <a:spAutoFit/>
          </a:bodyPr>
          <a:lstStyle/>
          <a:p>
            <a:r>
              <a:rPr lang="en-IN" sz="2000" b="1" dirty="0"/>
              <a:t>Problem Statement No.10 : Social Media Agent</a:t>
            </a:r>
            <a:endParaRPr lang="en-US" sz="2000" dirty="0"/>
          </a:p>
          <a:p>
            <a:r>
              <a:rPr lang="en-IN" sz="2000" b="1" dirty="0"/>
              <a:t>The Challenge</a:t>
            </a:r>
            <a:endParaRPr lang="en-US" sz="2000" dirty="0"/>
          </a:p>
          <a:p>
            <a:r>
              <a:rPr lang="en-IN" sz="2000" dirty="0"/>
              <a:t>Brands, influencers, and organizations struggle to keep up with the </a:t>
            </a:r>
            <a:r>
              <a:rPr lang="en-IN" sz="2000" b="1" dirty="0"/>
              <a:t>fast-paced and fragmented world of social media</a:t>
            </a:r>
            <a:r>
              <a:rPr lang="en-IN" sz="2000" dirty="0"/>
              <a:t>.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2000" b="1" dirty="0" err="1"/>
              <a:t>analyze</a:t>
            </a:r>
            <a:r>
              <a:rPr lang="en-IN" sz="2000" b="1" dirty="0"/>
              <a:t>, predict, and recommend actions in real time</a:t>
            </a:r>
            <a:r>
              <a:rPr lang="en-IN" sz="2000" dirty="0"/>
              <a:t>.</a:t>
            </a:r>
            <a:endParaRPr lang="en-US" sz="2000" dirty="0"/>
          </a:p>
          <a:p>
            <a:r>
              <a:rPr lang="en-IN" sz="2000" b="1" dirty="0"/>
              <a:t>The Objective</a:t>
            </a:r>
            <a:endParaRPr lang="en-US" sz="2000" dirty="0"/>
          </a:p>
          <a:p>
            <a:r>
              <a:rPr lang="en-IN" sz="2000" dirty="0"/>
              <a:t>Build an </a:t>
            </a:r>
            <a:r>
              <a:rPr lang="en-IN" sz="2000" b="1" dirty="0"/>
              <a:t>agentic AI application</a:t>
            </a:r>
            <a:r>
              <a:rPr lang="en-IN" sz="2000" dirty="0"/>
              <a:t> that acts as an intelligent social media companion. The solution should:</a:t>
            </a:r>
            <a:endParaRPr lang="en-US" sz="2000" dirty="0"/>
          </a:p>
          <a:p>
            <a:pPr lvl="0"/>
            <a:r>
              <a:rPr lang="en-IN" sz="2000" b="1" dirty="0"/>
              <a:t>Fuse Multichannel Data :-</a:t>
            </a:r>
            <a:r>
              <a:rPr lang="en-IN" sz="2000" dirty="0"/>
              <a:t> Collect and synthesize content, comments, hashtags, and competitor posts from platforms like X, LinkedIn, Instagram, and Facebook into unified insights.</a:t>
            </a:r>
            <a:endParaRPr lang="en-US" sz="2000" dirty="0"/>
          </a:p>
          <a:p>
            <a:pPr lvl="0"/>
            <a:r>
              <a:rPr lang="en-IN" sz="2000" b="1" dirty="0"/>
              <a:t>Enable Multimodal Interaction :-</a:t>
            </a:r>
            <a:r>
              <a:rPr lang="en-IN" sz="2000" dirty="0"/>
              <a:t> Accept user inputs (text, images, or voice prompts) and generate creative post drafts, captions, or campaign ideas aligned with brand tone.</a:t>
            </a:r>
            <a:endParaRPr lang="en-US" sz="2000" dirty="0"/>
          </a:p>
          <a:p>
            <a:pPr lvl="0"/>
            <a:r>
              <a:rPr lang="en-IN" sz="2000" b="1" dirty="0"/>
              <a:t>Create a Predictive &amp; Agentic Layer :-</a:t>
            </a:r>
            <a:r>
              <a:rPr lang="en-IN" sz="2000" dirty="0"/>
              <a:t> Forecast trending hashtags, audience sentiment shifts, and competitor engagement patterns while suggesting the best posting schedules.</a:t>
            </a:r>
            <a:endParaRPr lang="en-US" sz="2000" dirty="0"/>
          </a:p>
          <a:p>
            <a:pPr lvl="0"/>
            <a:r>
              <a:rPr lang="en-IN" sz="2000" b="1" dirty="0"/>
              <a:t>Visualize Social Media Pulse :-</a:t>
            </a:r>
            <a:r>
              <a:rPr lang="en-IN" sz="2000" dirty="0"/>
              <a:t> Provide a dashboard with real-time analytics—engagement trends, influencer mapping, sentiment tracking, and campaign performance forecasts.</a:t>
            </a:r>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79427" y="944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12954"/>
            <a:ext cx="10607040" cy="4832092"/>
          </a:xfrm>
          <a:prstGeom prst="rect">
            <a:avLst/>
          </a:prstGeom>
          <a:noFill/>
        </p:spPr>
        <p:txBody>
          <a:bodyPr wrap="square" rtlCol="0">
            <a:spAutoFit/>
          </a:bodyPr>
          <a:lstStyle/>
          <a:p>
            <a:pPr fontAlgn="base"/>
            <a:endParaRPr lang="en-US" b="1" dirty="0"/>
          </a:p>
          <a:p>
            <a:r>
              <a:rPr lang="en-US" sz="2000" b="1" dirty="0"/>
              <a:t>Proposed Solution: </a:t>
            </a:r>
            <a:r>
              <a:rPr lang="en-US" sz="2000" b="1" dirty="0" err="1"/>
              <a:t>VibeLens</a:t>
            </a:r>
            <a:r>
              <a:rPr lang="en-US" sz="2000" b="1" dirty="0"/>
              <a:t> AI – AI-Powered Social Media Agent</a:t>
            </a:r>
            <a:endParaRPr lang="en-US" sz="2000" dirty="0"/>
          </a:p>
          <a:p>
            <a:r>
              <a:rPr lang="en-US" sz="2000" dirty="0"/>
              <a:t>The proposed solution is </a:t>
            </a:r>
            <a:r>
              <a:rPr lang="en-US" sz="2000" b="1" dirty="0" err="1"/>
              <a:t>VibeLens</a:t>
            </a:r>
            <a:r>
              <a:rPr lang="en-US" sz="2000" b="1" dirty="0"/>
              <a:t> AI</a:t>
            </a:r>
            <a:r>
              <a:rPr lang="en-US" sz="2000" dirty="0"/>
              <a:t>, an AI-powered social media agent that helps brands, influencers, and organizations manage their online presence through intelligent insights and content recommendations. The platform analyzes social media trends, audience sentiment, engagement metrics, and competitor activity to support data-driven decision-making.</a:t>
            </a:r>
          </a:p>
          <a:p>
            <a:r>
              <a:rPr lang="en-US" sz="2000" dirty="0"/>
              <a:t>Key features include:</a:t>
            </a:r>
          </a:p>
          <a:p>
            <a:r>
              <a:rPr lang="en-US" sz="2000" b="1" dirty="0"/>
              <a:t>Trend Analysis</a:t>
            </a:r>
            <a:r>
              <a:rPr lang="en-US" sz="2000" dirty="0"/>
              <a:t> – Identifies trending topics and hashtags.</a:t>
            </a:r>
          </a:p>
          <a:p>
            <a:r>
              <a:rPr lang="en-US" sz="2000" b="1" dirty="0"/>
              <a:t>Sentiment Analysis</a:t>
            </a:r>
            <a:r>
              <a:rPr lang="en-US" sz="2000" dirty="0"/>
              <a:t> – Monitors audience opinions and reactions.</a:t>
            </a:r>
          </a:p>
          <a:p>
            <a:r>
              <a:rPr lang="en-US" sz="2000" b="1" dirty="0"/>
              <a:t>Content Generation</a:t>
            </a:r>
            <a:r>
              <a:rPr lang="en-US" sz="2000" dirty="0"/>
              <a:t> – Suggests captions, hashtags, and campaign ideas.</a:t>
            </a:r>
          </a:p>
          <a:p>
            <a:r>
              <a:rPr lang="en-US" sz="2000" b="1" dirty="0"/>
              <a:t>Competitor Tracking</a:t>
            </a:r>
            <a:r>
              <a:rPr lang="en-US" sz="2000" dirty="0"/>
              <a:t> – Analyzes competitor performance and strategies.</a:t>
            </a:r>
          </a:p>
          <a:p>
            <a:r>
              <a:rPr lang="en-US" sz="2000" b="1" dirty="0"/>
              <a:t>Smart Scheduling</a:t>
            </a:r>
            <a:r>
              <a:rPr lang="en-US" sz="2000" dirty="0"/>
              <a:t> – Recommends optimal posting times.</a:t>
            </a:r>
          </a:p>
          <a:p>
            <a:r>
              <a:rPr lang="en-US" sz="2000" b="1" dirty="0"/>
              <a:t>Analytics Dashboard</a:t>
            </a:r>
            <a:r>
              <a:rPr lang="en-US" sz="2000" dirty="0"/>
              <a:t> – Visualizes engagement and campaign performance.</a:t>
            </a:r>
          </a:p>
          <a:p>
            <a:r>
              <a:rPr lang="en-US" sz="2000" dirty="0"/>
              <a:t>Overall, </a:t>
            </a:r>
            <a:r>
              <a:rPr lang="en-US" sz="2000" dirty="0" err="1"/>
              <a:t>VibeLens</a:t>
            </a:r>
            <a:r>
              <a:rPr lang="en-US" sz="2000" dirty="0"/>
              <a:t> AI acts as a smart social media companion that helps users create impactful content, improve engagement, and stay ahead of market trends.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395074"/>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000" b="1" dirty="0"/>
              <a:t>IBM </a:t>
            </a:r>
            <a:r>
              <a:rPr lang="en-US" sz="2000" b="1" dirty="0" err="1"/>
              <a:t>Langflow</a:t>
            </a:r>
            <a:r>
              <a:rPr lang="en-US" sz="2000" dirty="0"/>
              <a:t> – For designing and managing multi-agent workflows visually.</a:t>
            </a:r>
          </a:p>
          <a:p>
            <a:pPr marL="342900" indent="-342900">
              <a:buFont typeface="Arial" panose="020B0604020202020204" pitchFamily="34" charset="0"/>
              <a:buChar char="•"/>
            </a:pPr>
            <a:r>
              <a:rPr lang="en-US" sz="2000" b="1" dirty="0"/>
              <a:t>IBM Granite Model</a:t>
            </a:r>
            <a:r>
              <a:rPr lang="en-US" sz="2000" dirty="0"/>
              <a:t> – For content generation, sentiment analysis, and intelligent recommendations.</a:t>
            </a:r>
          </a:p>
          <a:p>
            <a:pPr marL="342900" indent="-342900">
              <a:buFont typeface="Arial" panose="020B0604020202020204" pitchFamily="34" charset="0"/>
              <a:buChar char="•"/>
            </a:pPr>
            <a:r>
              <a:rPr lang="en-US" sz="2000" b="1" dirty="0"/>
              <a:t>IBM Watson Orchestrate</a:t>
            </a:r>
            <a:r>
              <a:rPr lang="en-US" sz="2000" dirty="0"/>
              <a:t> – For building and automating the AI Social Media Agent.</a:t>
            </a:r>
          </a:p>
          <a:p>
            <a:pPr marL="342900" indent="-342900">
              <a:buFont typeface="Arial" panose="020B0604020202020204" pitchFamily="34" charset="0"/>
              <a:buChar char="•"/>
            </a:pPr>
            <a:r>
              <a:rPr lang="en-US" sz="2000" b="1" dirty="0"/>
              <a:t>IBM Watsonx.ai</a:t>
            </a:r>
            <a:r>
              <a:rPr lang="en-US" sz="2000" dirty="0"/>
              <a:t> – For AI model deployment, embeddings, and governance.</a:t>
            </a:r>
          </a:p>
          <a:p>
            <a:pPr marL="342900" indent="-342900">
              <a:buFont typeface="Arial" panose="020B0604020202020204" pitchFamily="34" charset="0"/>
              <a:buChar char="•"/>
            </a:pPr>
            <a:r>
              <a:rPr lang="en-US" sz="2000" b="1" dirty="0"/>
              <a:t>IBM Cloud</a:t>
            </a:r>
            <a:r>
              <a:rPr lang="en-US" sz="2000" dirty="0"/>
              <a:t> – For secure, scalable, and reliable application hosting.</a:t>
            </a:r>
          </a:p>
          <a:p>
            <a:pPr marL="342900" indent="-342900">
              <a:buFont typeface="Arial" panose="020B0604020202020204" pitchFamily="34" charset="0"/>
              <a:buChar char="•"/>
            </a:pPr>
            <a:r>
              <a:rPr lang="en-US" sz="2000" b="1" dirty="0"/>
              <a:t>RAG (Retrieval-Augmented Generation)</a:t>
            </a:r>
            <a:r>
              <a:rPr lang="en-US" sz="2000" dirty="0"/>
              <a:t> – For retrieving real-time social media insights before generating responses.</a:t>
            </a:r>
          </a:p>
          <a:p>
            <a:pPr marL="342900" indent="-342900">
              <a:buFont typeface="Arial" panose="020B0604020202020204" pitchFamily="34" charset="0"/>
              <a:buChar char="•"/>
            </a:pPr>
            <a:r>
              <a:rPr lang="en-US" sz="2000" b="1" dirty="0"/>
              <a:t>FAISS/Chroma Vector Database</a:t>
            </a:r>
            <a:r>
              <a:rPr lang="en-US" sz="2000" dirty="0"/>
              <a:t> – For efficient storage and retrieval of social media knowledge embeddings.</a:t>
            </a:r>
          </a:p>
          <a:p>
            <a:pPr marL="342900" indent="-342900">
              <a:buFont typeface="Arial" panose="020B0604020202020204" pitchFamily="34" charset="0"/>
              <a:buChar char="•"/>
            </a:pPr>
            <a:r>
              <a:rPr lang="en-US" sz="2000" b="1" dirty="0"/>
              <a:t>Social Media APIs</a:t>
            </a:r>
            <a:r>
              <a:rPr lang="en-US" sz="2000" dirty="0"/>
              <a:t> – For collecting trends, hashtags, engagement, and audience data.</a:t>
            </a:r>
          </a:p>
          <a:p>
            <a:pPr marL="342900" indent="-342900">
              <a:buFont typeface="Arial" panose="020B0604020202020204" pitchFamily="34" charset="0"/>
              <a:buChar char="•"/>
            </a:pPr>
            <a:r>
              <a:rPr lang="en-US" sz="2000" b="1" dirty="0"/>
              <a:t>HTML, CSS, JavaScript</a:t>
            </a:r>
            <a:r>
              <a:rPr lang="en-US" sz="2000" dirty="0"/>
              <a:t> – For developing the responsive </a:t>
            </a:r>
            <a:r>
              <a:rPr lang="en-US" sz="2000" dirty="0" err="1"/>
              <a:t>VibeLens</a:t>
            </a:r>
            <a:r>
              <a:rPr lang="en-US" sz="2000" dirty="0"/>
              <a:t> AI dashboard.</a:t>
            </a:r>
          </a:p>
          <a:p>
            <a:pPr marL="285750" indent="-285750">
              <a:buFont typeface="Arial" panose="020B0604020202020204" pitchFamily="34" charset="0"/>
              <a:buChar char="•"/>
            </a:pPr>
            <a:endParaRPr lang="en-US" sz="2000" dirty="0"/>
          </a:p>
          <a:p>
            <a:endParaRPr lang="en-US"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Orchestrate 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048083"/>
          </a:xfrm>
          <a:prstGeom prst="rect">
            <a:avLst/>
          </a:prstGeom>
          <a:noFill/>
        </p:spPr>
        <p:txBody>
          <a:bodyPr wrap="square" rtlCol="0">
            <a:spAutoFit/>
          </a:bodyPr>
          <a:lstStyle/>
          <a:p>
            <a:endParaRPr lang="en-US" dirty="0"/>
          </a:p>
          <a:p>
            <a:r>
              <a:rPr lang="en-US" sz="2000" b="1" dirty="0"/>
              <a:t>1) Chat Input</a:t>
            </a:r>
            <a:r>
              <a:rPr lang="en-US" sz="2000" dirty="0"/>
              <a:t> – Interface where users enter social media-related queries, brand details, campaign goals, or content requirements through text, voice, or images.</a:t>
            </a:r>
          </a:p>
          <a:p>
            <a:r>
              <a:rPr lang="en-US" sz="2000" b="1" dirty="0"/>
              <a:t>2) IBM </a:t>
            </a:r>
            <a:r>
              <a:rPr lang="en-US" sz="2000" b="1" dirty="0" err="1"/>
              <a:t>watsonx</a:t>
            </a:r>
            <a:r>
              <a:rPr lang="en-US" sz="2000" b="1" dirty="0"/>
              <a:t> AI Agent</a:t>
            </a:r>
            <a:r>
              <a:rPr lang="en-US" sz="2000" dirty="0"/>
              <a:t> – Processes user inputs using IBM Granite models to analyze trends, generate content, evaluate sentiment, and provide social media recommendations.</a:t>
            </a:r>
          </a:p>
          <a:p>
            <a:r>
              <a:rPr lang="en-US" sz="2000" b="1" dirty="0"/>
              <a:t>3) IBM Granite Model</a:t>
            </a:r>
            <a:r>
              <a:rPr lang="en-US" sz="2000" dirty="0"/>
              <a:t> – </a:t>
            </a:r>
            <a:r>
              <a:rPr lang="en-US" sz="2000" b="1" dirty="0"/>
              <a:t>Granite-4.0-8B-Instruct</a:t>
            </a:r>
            <a:r>
              <a:rPr lang="en-US" sz="2000" dirty="0"/>
              <a:t> → Fast and efficient for content generation, hashtag recommendations, sentiment analysis, and social media strategy suggestions.</a:t>
            </a:r>
          </a:p>
          <a:p>
            <a:r>
              <a:rPr lang="en-US" sz="2000" b="1" dirty="0"/>
              <a:t>4) Chat Output</a:t>
            </a:r>
            <a:r>
              <a:rPr lang="en-US" sz="2000" dirty="0"/>
              <a:t> – Displays AI-generated responses such as captions, hashtags, trend insights, competitor analysis, posting schedules, and campaign recommendations.</a:t>
            </a:r>
          </a:p>
          <a:p>
            <a:r>
              <a:rPr lang="en-US" sz="2000" b="1" dirty="0"/>
              <a:t>5) File Component</a:t>
            </a:r>
            <a:r>
              <a:rPr lang="en-US" sz="2000" dirty="0"/>
              <a:t> – Stores social media data, campaign reports, engagement metrics, sentiment analysis results, and user preferences for future reference and analytics.</a:t>
            </a:r>
          </a:p>
          <a:p>
            <a:endParaRPr lang="en-US" sz="2000" dirty="0">
              <a:highlight>
                <a:srgbClr val="FFFF00"/>
              </a:highlight>
            </a:endParaRPr>
          </a:p>
          <a:p>
            <a:pPr marL="342900" indent="-342900">
              <a:buAutoNum type="arabicParenR" startAt="3"/>
            </a:pPr>
            <a:endParaRPr lang="en-US" sz="2000"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5" name="Picture 4">
            <a:extLst>
              <a:ext uri="{FF2B5EF4-FFF2-40B4-BE49-F238E27FC236}">
                <a16:creationId xmlns:a16="http://schemas.microsoft.com/office/drawing/2014/main" id="{DCD4C3A8-2450-2BC9-CB79-06D1324FC0FE}"/>
              </a:ext>
            </a:extLst>
          </p:cNvPr>
          <p:cNvPicPr>
            <a:picLocks noChangeAspect="1"/>
          </p:cNvPicPr>
          <p:nvPr/>
        </p:nvPicPr>
        <p:blipFill>
          <a:blip r:embed="rId3"/>
          <a:stretch>
            <a:fillRect/>
          </a:stretch>
        </p:blipFill>
        <p:spPr>
          <a:xfrm>
            <a:off x="537590" y="872169"/>
            <a:ext cx="10814180" cy="559511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pic>
        <p:nvPicPr>
          <p:cNvPr id="5" name="Picture 4">
            <a:extLst>
              <a:ext uri="{FF2B5EF4-FFF2-40B4-BE49-F238E27FC236}">
                <a16:creationId xmlns:a16="http://schemas.microsoft.com/office/drawing/2014/main" id="{FEBFDC6E-602B-1F93-98C9-95F7AD472A35}"/>
              </a:ext>
            </a:extLst>
          </p:cNvPr>
          <p:cNvPicPr>
            <a:picLocks noChangeAspect="1"/>
          </p:cNvPicPr>
          <p:nvPr/>
        </p:nvPicPr>
        <p:blipFill>
          <a:blip r:embed="rId3"/>
          <a:stretch>
            <a:fillRect/>
          </a:stretch>
        </p:blipFill>
        <p:spPr>
          <a:xfrm>
            <a:off x="537590" y="940116"/>
            <a:ext cx="10730205" cy="5760544"/>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356616" y="292607"/>
            <a:ext cx="5239512" cy="888729"/>
          </a:xfrm>
        </p:spPr>
        <p:txBody>
          <a:bodyPr>
            <a:normAutofit/>
          </a:bodyPr>
          <a:lstStyle/>
          <a:p>
            <a:r>
              <a:rPr lang="en-US" sz="2800" dirty="0">
                <a:latin typeface="+mj-lt"/>
              </a:rPr>
              <a:t>Other Applicable Screenshots :</a:t>
            </a:r>
            <a:br>
              <a:rPr lang="en-US" sz="2800" dirty="0"/>
            </a:br>
            <a:endParaRPr lang="en-US" sz="2800" dirty="0">
              <a:latin typeface="+mj-lt"/>
            </a:endParaRPr>
          </a:p>
        </p:txBody>
      </p:sp>
      <p:pic>
        <p:nvPicPr>
          <p:cNvPr id="7" name="Picture 6">
            <a:extLst>
              <a:ext uri="{FF2B5EF4-FFF2-40B4-BE49-F238E27FC236}">
                <a16:creationId xmlns:a16="http://schemas.microsoft.com/office/drawing/2014/main" id="{B9BA7160-7267-5E8E-9FE7-4E27A4B230BB}"/>
              </a:ext>
            </a:extLst>
          </p:cNvPr>
          <p:cNvPicPr>
            <a:picLocks noChangeAspect="1"/>
          </p:cNvPicPr>
          <p:nvPr/>
        </p:nvPicPr>
        <p:blipFill>
          <a:blip r:embed="rId2"/>
          <a:srcRect l="5168"/>
          <a:stretch>
            <a:fillRect/>
          </a:stretch>
        </p:blipFill>
        <p:spPr>
          <a:xfrm>
            <a:off x="4178808" y="1024128"/>
            <a:ext cx="3219118" cy="5285232"/>
          </a:xfrm>
          <a:prstGeom prst="rect">
            <a:avLst/>
          </a:prstGeom>
        </p:spPr>
      </p:pic>
      <p:pic>
        <p:nvPicPr>
          <p:cNvPr id="9" name="Picture 8">
            <a:extLst>
              <a:ext uri="{FF2B5EF4-FFF2-40B4-BE49-F238E27FC236}">
                <a16:creationId xmlns:a16="http://schemas.microsoft.com/office/drawing/2014/main" id="{FA69E054-0269-907D-0223-BD15E8D68229}"/>
              </a:ext>
            </a:extLst>
          </p:cNvPr>
          <p:cNvPicPr>
            <a:picLocks noChangeAspect="1"/>
          </p:cNvPicPr>
          <p:nvPr/>
        </p:nvPicPr>
        <p:blipFill>
          <a:blip r:embed="rId3"/>
          <a:stretch>
            <a:fillRect/>
          </a:stretch>
        </p:blipFill>
        <p:spPr>
          <a:xfrm>
            <a:off x="7678438" y="1006649"/>
            <a:ext cx="3128929" cy="5302711"/>
          </a:xfrm>
          <a:prstGeom prst="rect">
            <a:avLst/>
          </a:prstGeom>
        </p:spPr>
      </p:pic>
      <p:pic>
        <p:nvPicPr>
          <p:cNvPr id="11" name="Picture 10">
            <a:extLst>
              <a:ext uri="{FF2B5EF4-FFF2-40B4-BE49-F238E27FC236}">
                <a16:creationId xmlns:a16="http://schemas.microsoft.com/office/drawing/2014/main" id="{9B5C6B80-965C-AF2A-B58F-738B9EB8EDD7}"/>
              </a:ext>
            </a:extLst>
          </p:cNvPr>
          <p:cNvPicPr>
            <a:picLocks noChangeAspect="1"/>
          </p:cNvPicPr>
          <p:nvPr/>
        </p:nvPicPr>
        <p:blipFill>
          <a:blip r:embed="rId4"/>
          <a:stretch>
            <a:fillRect/>
          </a:stretch>
        </p:blipFill>
        <p:spPr>
          <a:xfrm>
            <a:off x="760223" y="1067543"/>
            <a:ext cx="3128929" cy="5216690"/>
          </a:xfrm>
          <a:prstGeom prst="rect">
            <a:avLst/>
          </a:prstGeom>
        </p:spPr>
      </p:pic>
    </p:spTree>
    <p:extLst>
      <p:ext uri="{BB962C8B-B14F-4D97-AF65-F5344CB8AC3E}">
        <p14:creationId xmlns:p14="http://schemas.microsoft.com/office/powerpoint/2010/main" val="3218963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942225"/>
            <a:ext cx="7406640" cy="5632311"/>
          </a:xfrm>
          <a:prstGeom prst="rect">
            <a:avLst/>
          </a:prstGeom>
          <a:noFill/>
        </p:spPr>
        <p:txBody>
          <a:bodyPr wrap="square" rtlCol="0">
            <a:spAutoFit/>
          </a:bodyPr>
          <a:lstStyle/>
          <a:p>
            <a:r>
              <a:rPr lang="en-US" sz="2000" b="1" dirty="0"/>
              <a:t>Role of Agentic AI in </a:t>
            </a:r>
            <a:r>
              <a:rPr lang="en-US" sz="2000" b="1" dirty="0" err="1"/>
              <a:t>VibeLens</a:t>
            </a:r>
            <a:r>
              <a:rPr lang="en-US" sz="2000" b="1" dirty="0"/>
              <a:t> AI</a:t>
            </a:r>
            <a:endParaRPr lang="en-US" sz="2000" dirty="0"/>
          </a:p>
          <a:p>
            <a:r>
              <a:rPr lang="en-US" sz="2000" dirty="0"/>
              <a:t>Agentic AI acts as the decision-making engine of </a:t>
            </a:r>
            <a:r>
              <a:rPr lang="en-US" sz="2000" dirty="0" err="1"/>
              <a:t>VibeLens</a:t>
            </a:r>
            <a:r>
              <a:rPr lang="en-US" sz="2000" dirty="0"/>
              <a:t> AI, enabling the system to perform tasks autonomously and provide intelligent social media assistance. It continuously analyzes social media data, including posts, comments, hashtags, engagement metrics, and competitor activities, to identify trends and audience behavior patterns.</a:t>
            </a:r>
          </a:p>
          <a:p>
            <a:r>
              <a:rPr lang="en-US" sz="2000" dirty="0"/>
              <a:t>The AI agent can generate creative captions, hashtags, campaign ideas, and content strategies tailored to a brand's goals and target audience. It proactively recommends the best posting times, detects shifts in audience sentiment, and suggests actions to improve engagement and reach.</a:t>
            </a:r>
          </a:p>
          <a:p>
            <a:r>
              <a:rPr lang="en-US" sz="2000" dirty="0"/>
              <a:t>By combining real-time data analysis, predictive insights, and automated recommendations, Agentic AI helps brands, influencers, and organizations make informed decisions, optimize marketing campaigns, and stay ahead of emerging social media trends. This reduces manual effort while improving the effectiveness and impact of social media strategies.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417320"/>
            <a:ext cx="11301984" cy="4401205"/>
          </a:xfrm>
          <a:prstGeom prst="rect">
            <a:avLst/>
          </a:prstGeom>
          <a:noFill/>
        </p:spPr>
        <p:txBody>
          <a:bodyPr wrap="square" rtlCol="0">
            <a:spAutoFit/>
          </a:bodyPr>
          <a:lstStyle/>
          <a:p>
            <a:r>
              <a:rPr lang="en-US" sz="2000" dirty="0"/>
              <a:t>The proposed </a:t>
            </a:r>
            <a:r>
              <a:rPr lang="en-US" sz="2000" b="1" dirty="0" err="1"/>
              <a:t>VibeLens</a:t>
            </a:r>
            <a:r>
              <a:rPr lang="en-US" sz="2000" b="1" dirty="0"/>
              <a:t> AI</a:t>
            </a:r>
            <a:r>
              <a:rPr lang="en-US" sz="2000" dirty="0"/>
              <a:t> stands out by combining </a:t>
            </a:r>
            <a:r>
              <a:rPr lang="en-US" sz="2000" b="1" dirty="0"/>
              <a:t>Agentic AI, real-time trend analysis, sentiment monitoring, and predictive insights</a:t>
            </a:r>
            <a:r>
              <a:rPr lang="en-US" sz="2000" dirty="0"/>
              <a:t> into a single intelligent platform.\</a:t>
            </a:r>
          </a:p>
          <a:p>
            <a:endParaRPr lang="en-US" sz="2000" dirty="0"/>
          </a:p>
          <a:p>
            <a:r>
              <a:rPr lang="en-US" sz="2000" b="1" dirty="0"/>
              <a:t>1. Multi-Agent Intelligence</a:t>
            </a:r>
            <a:r>
              <a:rPr lang="en-US" sz="2000" dirty="0"/>
              <a:t> – Specialized agents analyze trends, sentiment, competitors, and content performance.</a:t>
            </a:r>
          </a:p>
          <a:p>
            <a:r>
              <a:rPr lang="en-US" sz="2000" b="1" dirty="0"/>
              <a:t>2. Real-Time Trend Analysis</a:t>
            </a:r>
            <a:r>
              <a:rPr lang="en-US" sz="2000" dirty="0"/>
              <a:t> – Identifies trending topics and viral hashtags across platforms.</a:t>
            </a:r>
          </a:p>
          <a:p>
            <a:r>
              <a:rPr lang="en-US" sz="2000" b="1" dirty="0"/>
              <a:t>3. Predictive Insights</a:t>
            </a:r>
            <a:r>
              <a:rPr lang="en-US" sz="2000" dirty="0"/>
              <a:t> – Forecasts engagement trends and audience behavior.</a:t>
            </a:r>
          </a:p>
          <a:p>
            <a:r>
              <a:rPr lang="en-US" sz="2000" b="1" dirty="0"/>
              <a:t>4. Personalized Recommendations</a:t>
            </a:r>
            <a:r>
              <a:rPr lang="en-US" sz="2000" dirty="0"/>
              <a:t> – Generates captions, hashtags, and campaign ideas tailored to brand goals.</a:t>
            </a:r>
          </a:p>
          <a:p>
            <a:r>
              <a:rPr lang="en-US" sz="2000" b="1" dirty="0"/>
              <a:t>5. Competitor Intelligence</a:t>
            </a:r>
            <a:r>
              <a:rPr lang="en-US" sz="2000" dirty="0"/>
              <a:t> – Monitors competitor strategies and engagement patterns.</a:t>
            </a:r>
          </a:p>
          <a:p>
            <a:r>
              <a:rPr lang="en-US" sz="2000" b="1" dirty="0"/>
              <a:t>6. Multi-Modal Interaction</a:t>
            </a:r>
            <a:r>
              <a:rPr lang="en-US" sz="2000" dirty="0"/>
              <a:t> – Supports text, voice, and image-based inputs.</a:t>
            </a:r>
          </a:p>
          <a:p>
            <a:r>
              <a:rPr lang="en-US" sz="2000" b="1" dirty="0"/>
              <a:t>7. Enterprise-Ready</a:t>
            </a:r>
            <a:r>
              <a:rPr lang="en-US" sz="2000" dirty="0"/>
              <a:t> – Built on IBM Watson Orchestrate, IBM Granite Models, and IBM Cloud.</a:t>
            </a:r>
          </a:p>
          <a:p>
            <a:r>
              <a:rPr lang="en-US" sz="2000" dirty="0"/>
              <a:t>This makes </a:t>
            </a:r>
            <a:r>
              <a:rPr lang="en-US" sz="2000" dirty="0" err="1"/>
              <a:t>VibeLens</a:t>
            </a:r>
            <a:r>
              <a:rPr lang="en-US" sz="2000" dirty="0"/>
              <a:t> AI a </a:t>
            </a:r>
            <a:r>
              <a:rPr lang="en-US" sz="2000" b="1" dirty="0"/>
              <a:t>smart social media strategist</a:t>
            </a:r>
            <a:r>
              <a:rPr lang="en-US" sz="2000" dirty="0"/>
              <a:t>, not just a traditional analytics tool.</a:t>
            </a:r>
          </a:p>
          <a:p>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DB088D-3155-2C6D-F519-B16B40F4AF52}"/>
              </a:ext>
            </a:extLst>
          </p:cNvPr>
          <p:cNvSpPr>
            <a:spLocks noGrp="1"/>
          </p:cNvSpPr>
          <p:nvPr>
            <p:ph type="body" idx="1"/>
          </p:nvPr>
        </p:nvSpPr>
        <p:spPr>
          <a:xfrm>
            <a:off x="420370" y="355791"/>
            <a:ext cx="10515600" cy="1500187"/>
          </a:xfrm>
        </p:spPr>
        <p:txBody>
          <a:bodyPr>
            <a:normAutofit/>
          </a:bodyPr>
          <a:lstStyle/>
          <a:p>
            <a:r>
              <a:rPr lang="en-US" sz="2800" b="1" dirty="0">
                <a:solidFill>
                  <a:schemeClr val="tx1">
                    <a:lumMod val="95000"/>
                    <a:lumOff val="5000"/>
                  </a:schemeClr>
                </a:solidFill>
                <a:latin typeface="+mn-lt"/>
              </a:rPr>
              <a:t>GitHub Link :</a:t>
            </a:r>
          </a:p>
        </p:txBody>
      </p:sp>
      <p:sp>
        <p:nvSpPr>
          <p:cNvPr id="5" name="Title 1">
            <a:extLst>
              <a:ext uri="{FF2B5EF4-FFF2-40B4-BE49-F238E27FC236}">
                <a16:creationId xmlns:a16="http://schemas.microsoft.com/office/drawing/2014/main" id="{0A4AA5F1-668F-193F-76E4-8617B377E861}"/>
              </a:ext>
            </a:extLst>
          </p:cNvPr>
          <p:cNvSpPr>
            <a:spLocks noGrp="1"/>
          </p:cNvSpPr>
          <p:nvPr>
            <p:ph type="title"/>
          </p:nvPr>
        </p:nvSpPr>
        <p:spPr>
          <a:xfrm>
            <a:off x="667258" y="2258379"/>
            <a:ext cx="7196582" cy="1500188"/>
          </a:xfrm>
        </p:spPr>
        <p:txBody>
          <a:bodyPr>
            <a:normAutofit fontScale="90000"/>
          </a:bodyPr>
          <a:lstStyle/>
          <a:p>
            <a:pPr lvl="0">
              <a:lnSpc>
                <a:spcPct val="162162"/>
              </a:lnSpc>
            </a:pPr>
            <a:r>
              <a:rPr lang="en-US" sz="2200" dirty="0" err="1">
                <a:solidFill>
                  <a:srgbClr val="2B3541"/>
                </a:solidFill>
                <a:latin typeface="+mn-lt"/>
                <a:ea typeface="Times New Roman"/>
                <a:cs typeface="Times New Roman"/>
                <a:sym typeface="Times New Roman"/>
              </a:rPr>
              <a:t>Github</a:t>
            </a:r>
            <a:r>
              <a:rPr lang="en-US" sz="2200" dirty="0">
                <a:solidFill>
                  <a:srgbClr val="2B3541"/>
                </a:solidFill>
                <a:latin typeface="+mn-lt"/>
                <a:ea typeface="Times New Roman"/>
                <a:cs typeface="Times New Roman"/>
                <a:sym typeface="Times New Roman"/>
              </a:rPr>
              <a:t> URL – </a:t>
            </a:r>
            <a:r>
              <a:rPr lang="en-US" sz="2200" dirty="0">
                <a:solidFill>
                  <a:srgbClr val="2B3541"/>
                </a:solidFill>
                <a:latin typeface="+mn-lt"/>
                <a:ea typeface="Times New Roman"/>
                <a:cs typeface="Times New Roman"/>
                <a:sym typeface="Times New Roman"/>
                <a:hlinkClick r:id="rId2"/>
              </a:rPr>
              <a:t>https://github.com/mehersam7/SOCIAL-MEDIA-AGENT</a:t>
            </a:r>
            <a:br>
              <a:rPr lang="en-US" sz="2200" dirty="0">
                <a:solidFill>
                  <a:srgbClr val="2B3541"/>
                </a:solidFill>
                <a:latin typeface="+mn-lt"/>
                <a:ea typeface="Times New Roman"/>
                <a:cs typeface="Times New Roman"/>
                <a:sym typeface="Times New Roman"/>
              </a:rPr>
            </a:br>
            <a:r>
              <a:rPr lang="en-US" sz="2200" dirty="0">
                <a:solidFill>
                  <a:srgbClr val="2B3541"/>
                </a:solidFill>
                <a:latin typeface="+mn-lt"/>
                <a:ea typeface="Times New Roman"/>
                <a:cs typeface="Times New Roman"/>
                <a:sym typeface="Times New Roman"/>
              </a:rPr>
              <a:t>Developed by – Samruddhi Randhir Meher (T.E)</a:t>
            </a:r>
            <a:br>
              <a:rPr lang="en-US" sz="2000" dirty="0">
                <a:solidFill>
                  <a:srgbClr val="2B3541"/>
                </a:solidFill>
                <a:latin typeface="Times New Roman"/>
                <a:ea typeface="Times New Roman"/>
                <a:cs typeface="Times New Roman"/>
              </a:rPr>
            </a:br>
            <a:br>
              <a:rPr lang="en-US" sz="2000" dirty="0">
                <a:solidFill>
                  <a:srgbClr val="2B3541"/>
                </a:solidFill>
                <a:latin typeface="Times New Roman"/>
                <a:ea typeface="Times New Roman"/>
                <a:cs typeface="Times New Roman"/>
              </a:rPr>
            </a:br>
            <a:endParaRPr lang="en-US" sz="2000" dirty="0">
              <a:latin typeface="+mn-lt"/>
            </a:endParaRPr>
          </a:p>
        </p:txBody>
      </p:sp>
    </p:spTree>
    <p:extLst>
      <p:ext uri="{BB962C8B-B14F-4D97-AF65-F5344CB8AC3E}">
        <p14:creationId xmlns:p14="http://schemas.microsoft.com/office/powerpoint/2010/main" val="59984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884511"/>
            <a:ext cx="9214580" cy="4277001"/>
          </a:xfrm>
          <a:prstGeom prst="rect">
            <a:avLst/>
          </a:prstGeom>
          <a:noFill/>
          <a:ln>
            <a:noFill/>
          </a:ln>
        </p:spPr>
        <p:txBody>
          <a:bodyPr spcFirstLastPara="1" wrap="square" lIns="0" tIns="0" rIns="0" bIns="0" anchor="t" anchorCtr="0">
            <a:noAutofit/>
          </a:bodyPr>
          <a:lstStyle/>
          <a:p>
            <a:endParaRPr lang="en-US" sz="2000" dirty="0"/>
          </a:p>
          <a:p>
            <a:pPr marL="342900" indent="-342900">
              <a:buFont typeface="Arial" panose="020B0604020202020204" pitchFamily="34" charset="0"/>
              <a:buChar char="•"/>
            </a:pPr>
            <a:r>
              <a:rPr lang="en-US" sz="2000" b="1" dirty="0"/>
              <a:t>AI Content Automation</a:t>
            </a:r>
            <a:r>
              <a:rPr lang="en-US" sz="2000" dirty="0"/>
              <a:t> – Automatically generate and schedule posts across multiple social media platforms.</a:t>
            </a:r>
          </a:p>
          <a:p>
            <a:pPr marL="342900" indent="-342900">
              <a:buFont typeface="Arial" panose="020B0604020202020204" pitchFamily="34" charset="0"/>
              <a:buChar char="•"/>
            </a:pPr>
            <a:r>
              <a:rPr lang="en-US" sz="2000" b="1" dirty="0"/>
              <a:t>Advanced Predictive Analytics</a:t>
            </a:r>
            <a:r>
              <a:rPr lang="en-US" sz="2000" dirty="0"/>
              <a:t> – Forecast viral trends, audience behavior, and campaign performance with higher accuracy.</a:t>
            </a:r>
          </a:p>
          <a:p>
            <a:pPr marL="342900" indent="-342900">
              <a:buFont typeface="Arial" panose="020B0604020202020204" pitchFamily="34" charset="0"/>
              <a:buChar char="•"/>
            </a:pPr>
            <a:r>
              <a:rPr lang="en-US" sz="2000" b="1" dirty="0"/>
              <a:t>Influencer Collaboration Engine</a:t>
            </a:r>
            <a:r>
              <a:rPr lang="en-US" sz="2000" dirty="0"/>
              <a:t> – Identify and recommend suitable influencers based on audience demographics and engagement.</a:t>
            </a:r>
          </a:p>
          <a:p>
            <a:pPr marL="342900" indent="-342900">
              <a:buFont typeface="Arial" panose="020B0604020202020204" pitchFamily="34" charset="0"/>
              <a:buChar char="•"/>
            </a:pPr>
            <a:r>
              <a:rPr lang="en-US" sz="2000" b="1" dirty="0"/>
              <a:t>Multi-Language Support</a:t>
            </a:r>
            <a:r>
              <a:rPr lang="en-US" sz="2000" dirty="0"/>
              <a:t> – Generate content and analyze sentiment in multiple languages.</a:t>
            </a:r>
          </a:p>
          <a:p>
            <a:pPr marL="342900" indent="-342900">
              <a:buFont typeface="Arial" panose="020B0604020202020204" pitchFamily="34" charset="0"/>
              <a:buChar char="•"/>
            </a:pPr>
            <a:r>
              <a:rPr lang="en-US" sz="2000" b="1" dirty="0"/>
              <a:t>AI-Powered Crisis Detection</a:t>
            </a:r>
            <a:r>
              <a:rPr lang="en-US" sz="2000" dirty="0"/>
              <a:t> – Detect negative sentiment spikes and reputation risks in real time.</a:t>
            </a:r>
          </a:p>
          <a:p>
            <a:pPr marL="342900" indent="-342900">
              <a:buFont typeface="Arial" panose="020B0604020202020204" pitchFamily="34" charset="0"/>
              <a:buChar char="•"/>
            </a:pPr>
            <a:r>
              <a:rPr lang="en-US" sz="2000" b="1" dirty="0"/>
              <a:t>Enhanced Competitor Intelligence</a:t>
            </a:r>
            <a:r>
              <a:rPr lang="en-US" sz="2000" dirty="0"/>
              <a:t> – Provide deeper insights into competitor strategies and market positioning.</a:t>
            </a:r>
          </a:p>
          <a:p>
            <a:pPr marL="342900" indent="-342900">
              <a:buFont typeface="Arial" panose="020B0604020202020204" pitchFamily="34" charset="0"/>
              <a:buChar char="•"/>
            </a:pPr>
            <a:r>
              <a:rPr lang="en-US" sz="2000" b="1" dirty="0"/>
              <a:t>Platform Expansion</a:t>
            </a:r>
            <a:r>
              <a:rPr lang="en-US" sz="2000" dirty="0"/>
              <a:t> – Integrate additional platforms such as YouTube, TikTok, and Threads for comprehensive social media monitoring.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6B47E79A-149C-37F1-463F-C645AB846E0B}"/>
              </a:ext>
            </a:extLst>
          </p:cNvPr>
          <p:cNvPicPr>
            <a:picLocks noChangeAspect="1"/>
          </p:cNvPicPr>
          <p:nvPr/>
        </p:nvPicPr>
        <p:blipFill>
          <a:blip r:embed="rId2"/>
          <a:stretch>
            <a:fillRect/>
          </a:stretch>
        </p:blipFill>
        <p:spPr>
          <a:xfrm>
            <a:off x="2933426" y="1062785"/>
            <a:ext cx="6325148" cy="473243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84CA2-A26B-7B9D-D23C-0455B8A8B370}"/>
              </a:ext>
            </a:extLst>
          </p:cNvPr>
          <p:cNvSpPr>
            <a:spLocks noGrp="1"/>
          </p:cNvSpPr>
          <p:nvPr>
            <p:ph type="title"/>
          </p:nvPr>
        </p:nvSpPr>
        <p:spPr/>
        <p:txBody>
          <a:bodyPr/>
          <a:lstStyle/>
          <a:p>
            <a:r>
              <a:rPr lang="en-IN"/>
              <a:t> </a:t>
            </a:r>
            <a:endParaRPr lang="en-IN" dirty="0"/>
          </a:p>
        </p:txBody>
      </p:sp>
      <p:sp>
        <p:nvSpPr>
          <p:cNvPr id="3" name="Text Placeholder 2">
            <a:extLst>
              <a:ext uri="{FF2B5EF4-FFF2-40B4-BE49-F238E27FC236}">
                <a16:creationId xmlns:a16="http://schemas.microsoft.com/office/drawing/2014/main" id="{076729D8-A380-F9B9-BDEB-3BFE24F61365}"/>
              </a:ext>
            </a:extLst>
          </p:cNvPr>
          <p:cNvSpPr>
            <a:spLocks noGrp="1"/>
          </p:cNvSpPr>
          <p:nvPr>
            <p:ph type="body" idx="1"/>
          </p:nvPr>
        </p:nvSpPr>
        <p:spPr/>
        <p:txBody>
          <a:bodyPr/>
          <a:lstStyle/>
          <a:p>
            <a:pPr marL="114300" indent="0">
              <a:buNone/>
            </a:pPr>
            <a:r>
              <a:rPr lang="en-IN" dirty="0"/>
              <a:t> </a:t>
            </a:r>
          </a:p>
        </p:txBody>
      </p:sp>
      <p:pic>
        <p:nvPicPr>
          <p:cNvPr id="6" name="Picture 5">
            <a:extLst>
              <a:ext uri="{FF2B5EF4-FFF2-40B4-BE49-F238E27FC236}">
                <a16:creationId xmlns:a16="http://schemas.microsoft.com/office/drawing/2014/main" id="{8DD71FB0-DA61-3A5C-0F1F-654BAC738897}"/>
              </a:ext>
            </a:extLst>
          </p:cNvPr>
          <p:cNvPicPr>
            <a:picLocks noChangeAspect="1"/>
          </p:cNvPicPr>
          <p:nvPr/>
        </p:nvPicPr>
        <p:blipFill>
          <a:blip r:embed="rId2"/>
          <a:stretch>
            <a:fillRect/>
          </a:stretch>
        </p:blipFill>
        <p:spPr>
          <a:xfrm>
            <a:off x="2163739" y="495046"/>
            <a:ext cx="7864522" cy="5867908"/>
          </a:xfrm>
          <a:prstGeom prst="rect">
            <a:avLst/>
          </a:prstGeom>
        </p:spPr>
      </p:pic>
    </p:spTree>
    <p:extLst>
      <p:ext uri="{BB962C8B-B14F-4D97-AF65-F5344CB8AC3E}">
        <p14:creationId xmlns:p14="http://schemas.microsoft.com/office/powerpoint/2010/main" val="3809700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4" name="Picture 3">
            <a:extLst>
              <a:ext uri="{FF2B5EF4-FFF2-40B4-BE49-F238E27FC236}">
                <a16:creationId xmlns:a16="http://schemas.microsoft.com/office/drawing/2014/main" id="{838AF0AD-7E15-AA4F-5706-80C4A5565951}"/>
              </a:ext>
            </a:extLst>
          </p:cNvPr>
          <p:cNvPicPr>
            <a:picLocks noChangeAspect="1"/>
          </p:cNvPicPr>
          <p:nvPr/>
        </p:nvPicPr>
        <p:blipFill>
          <a:blip r:embed="rId2"/>
          <a:stretch>
            <a:fillRect/>
          </a:stretch>
        </p:blipFill>
        <p:spPr>
          <a:xfrm>
            <a:off x="1517471" y="776971"/>
            <a:ext cx="9199297" cy="572151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3165</TotalTime>
  <Words>1207</Words>
  <Application>Microsoft Office PowerPoint</Application>
  <PresentationFormat>Widescreen</PresentationFormat>
  <Paragraphs>97</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Applicable Screenshots : </vt:lpstr>
      <vt:lpstr>PowerPoint Presentation</vt:lpstr>
      <vt:lpstr>PowerPoint Presentation</vt:lpstr>
      <vt:lpstr>Github URL – https://github.com/mehersam7/SOCIAL-MEDIA-AGENT Developed by – Samruddhi Randhir Meher (T.E)  </vt:lpstr>
      <vt:lpstr>PowerPoint Presentation</vt:lpstr>
      <vt:lpstr>PowerPoint Presentation</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SAM MEHER</cp:lastModifiedBy>
  <cp:revision>105</cp:revision>
  <dcterms:created xsi:type="dcterms:W3CDTF">2025-07-08T05:06:56Z</dcterms:created>
  <dcterms:modified xsi:type="dcterms:W3CDTF">2026-07-18T17:56:53Z</dcterms:modified>
</cp:coreProperties>
</file>